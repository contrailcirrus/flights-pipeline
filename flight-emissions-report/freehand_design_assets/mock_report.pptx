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3"/>
  </p:normalViewPr>
  <p:slideViewPr>
    <p:cSldViewPr snapToGrid="0">
      <p:cViewPr>
        <p:scale>
          <a:sx n="116" d="100"/>
          <a:sy n="116" d="100"/>
        </p:scale>
        <p:origin x="225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3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9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8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17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4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9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39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4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42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65D75-0D32-F84D-A96B-B1644C81C453}" type="datetimeFigureOut">
              <a:rPr lang="en-US" smtClean="0"/>
              <a:t>5/25/24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2FAB1-0DA3-134E-B144-104FA2C9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2E7D77-CADF-8CFB-5E78-385A24D2E1D7}"/>
              </a:ext>
            </a:extLst>
          </p:cNvPr>
          <p:cNvCxnSpPr/>
          <p:nvPr/>
        </p:nvCxnSpPr>
        <p:spPr>
          <a:xfrm>
            <a:off x="863600" y="1186832"/>
            <a:ext cx="59944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7710DE-7939-945E-B527-BF76480D229E}"/>
              </a:ext>
            </a:extLst>
          </p:cNvPr>
          <p:cNvSpPr/>
          <p:nvPr/>
        </p:nvSpPr>
        <p:spPr>
          <a:xfrm>
            <a:off x="0" y="147936"/>
            <a:ext cx="801403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Flight Emissions Report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4D9C7B2-715A-EDAF-D69C-C9FD18784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81044"/>
              </p:ext>
            </p:extLst>
          </p:nvPr>
        </p:nvGraphicFramePr>
        <p:xfrm>
          <a:off x="1270000" y="1443572"/>
          <a:ext cx="5181600" cy="76142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56658">
                  <a:extLst>
                    <a:ext uri="{9D8B030D-6E8A-4147-A177-3AD203B41FA5}">
                      <a16:colId xmlns:a16="http://schemas.microsoft.com/office/drawing/2014/main" val="2499644803"/>
                    </a:ext>
                  </a:extLst>
                </a:gridCol>
                <a:gridCol w="3324942">
                  <a:extLst>
                    <a:ext uri="{9D8B030D-6E8A-4147-A177-3AD203B41FA5}">
                      <a16:colId xmlns:a16="http://schemas.microsoft.com/office/drawing/2014/main" val="1784677445"/>
                    </a:ext>
                  </a:extLst>
                </a:gridCol>
              </a:tblGrid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Airline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3828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04 – May 17,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6791"/>
                  </a:ext>
                </a:extLst>
              </a:tr>
            </a:tbl>
          </a:graphicData>
        </a:graphic>
      </p:graphicFrame>
      <p:pic>
        <p:nvPicPr>
          <p:cNvPr id="16" name="Picture 15" descr="A person holding a planet&#10;&#10;Description automatically generated">
            <a:extLst>
              <a:ext uri="{FF2B5EF4-FFF2-40B4-BE49-F238E27FC236}">
                <a16:creationId xmlns:a16="http://schemas.microsoft.com/office/drawing/2014/main" id="{69FC75CA-1AA3-FEC3-C6CD-B463E5258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166" y="2265036"/>
            <a:ext cx="2765426" cy="203387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C89BC6-5A0B-1999-5242-F053442CC33B}"/>
              </a:ext>
            </a:extLst>
          </p:cNvPr>
          <p:cNvCxnSpPr/>
          <p:nvPr/>
        </p:nvCxnSpPr>
        <p:spPr>
          <a:xfrm>
            <a:off x="863600" y="4326218"/>
            <a:ext cx="59944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A blue airplane with wheels&#10;&#10;Description automatically generated">
            <a:extLst>
              <a:ext uri="{FF2B5EF4-FFF2-40B4-BE49-F238E27FC236}">
                <a16:creationId xmlns:a16="http://schemas.microsoft.com/office/drawing/2014/main" id="{874E9A31-5F1F-C949-206F-0D70AE892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950" y="4351091"/>
            <a:ext cx="2875555" cy="1356218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111057F-9C1C-65E3-0D56-24D134CA2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301743"/>
              </p:ext>
            </p:extLst>
          </p:nvPr>
        </p:nvGraphicFramePr>
        <p:xfrm>
          <a:off x="863600" y="5058137"/>
          <a:ext cx="3256987" cy="7009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33301">
                  <a:extLst>
                    <a:ext uri="{9D8B030D-6E8A-4147-A177-3AD203B41FA5}">
                      <a16:colId xmlns:a16="http://schemas.microsoft.com/office/drawing/2014/main" val="2499644803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1784677445"/>
                    </a:ext>
                  </a:extLst>
                </a:gridCol>
              </a:tblGrid>
              <a:tr h="179215">
                <a:tc>
                  <a:txBody>
                    <a:bodyPr/>
                    <a:lstStyle/>
                    <a:p>
                      <a:r>
                        <a:rPr lang="en-US" dirty="0"/>
                        <a:t>Flights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9,114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3828"/>
                  </a:ext>
                </a:extLst>
              </a:tr>
              <a:tr h="376370">
                <a:tc>
                  <a:txBody>
                    <a:bodyPr/>
                    <a:lstStyle/>
                    <a:p>
                      <a:r>
                        <a:rPr lang="en-US" dirty="0"/>
                        <a:t>Flight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21,728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6791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7E20C9-6F61-7F76-AE42-AACC7D08DFD0}"/>
              </a:ext>
            </a:extLst>
          </p:cNvPr>
          <p:cNvCxnSpPr/>
          <p:nvPr/>
        </p:nvCxnSpPr>
        <p:spPr>
          <a:xfrm>
            <a:off x="863600" y="6585212"/>
            <a:ext cx="59944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person holding a circle on a cloud&#10;&#10;Description automatically generated">
            <a:extLst>
              <a:ext uri="{FF2B5EF4-FFF2-40B4-BE49-F238E27FC236}">
                <a16:creationId xmlns:a16="http://schemas.microsoft.com/office/drawing/2014/main" id="{0F625A7B-F921-B8A5-EEAA-7F4CBB9B7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093" y="7160722"/>
            <a:ext cx="2412237" cy="174058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A6281C7-101F-17BD-DB19-D27BE2F54C8E}"/>
              </a:ext>
            </a:extLst>
          </p:cNvPr>
          <p:cNvSpPr txBox="1"/>
          <p:nvPr/>
        </p:nvSpPr>
        <p:spPr>
          <a:xfrm>
            <a:off x="670366" y="7001451"/>
            <a:ext cx="24122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CO2 impact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3EFF64-D278-DD5E-FBB3-8642C9A8427F}"/>
              </a:ext>
            </a:extLst>
          </p:cNvPr>
          <p:cNvSpPr txBox="1"/>
          <p:nvPr/>
        </p:nvSpPr>
        <p:spPr>
          <a:xfrm>
            <a:off x="4904330" y="6691497"/>
            <a:ext cx="21977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Contrails </a:t>
            </a:r>
          </a:p>
          <a:p>
            <a:r>
              <a:rPr lang="en-US" sz="2000" dirty="0"/>
              <a:t>CO2e impact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BD1337-A026-A5A8-6488-A11D2DAFB02B}"/>
              </a:ext>
            </a:extLst>
          </p:cNvPr>
          <p:cNvSpPr txBox="1"/>
          <p:nvPr/>
        </p:nvSpPr>
        <p:spPr>
          <a:xfrm>
            <a:off x="670366" y="7364001"/>
            <a:ext cx="18786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Estimated CO2 emissions from jet fuel combustion.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F7EB44-07DB-2FEF-2977-83DB388DC0BE}"/>
              </a:ext>
            </a:extLst>
          </p:cNvPr>
          <p:cNvSpPr txBox="1"/>
          <p:nvPr/>
        </p:nvSpPr>
        <p:spPr>
          <a:xfrm>
            <a:off x="4904330" y="7325168"/>
            <a:ext cx="20867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latin typeface="Helvetica" pitchFamily="2" charset="0"/>
              </a:rPr>
              <a:t>Estimated GWP20 CO2e (CO2 equivalence, 20yr greenhouse warming potential) from contrails.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2E478A-015F-ED8F-B190-A6AA93F354B9}"/>
              </a:ext>
            </a:extLst>
          </p:cNvPr>
          <p:cNvSpPr txBox="1"/>
          <p:nvPr/>
        </p:nvSpPr>
        <p:spPr>
          <a:xfrm>
            <a:off x="-424084" y="8226534"/>
            <a:ext cx="401062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259,051 </a:t>
            </a:r>
          </a:p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metric tons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CF6038-2291-8E93-DA57-037BDB169CF7}"/>
              </a:ext>
            </a:extLst>
          </p:cNvPr>
          <p:cNvSpPr txBox="1"/>
          <p:nvPr/>
        </p:nvSpPr>
        <p:spPr>
          <a:xfrm>
            <a:off x="3809879" y="8226535"/>
            <a:ext cx="401062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124,523 </a:t>
            </a:r>
          </a:p>
          <a:p>
            <a:pPr algn="ctr"/>
            <a:r>
              <a:rPr 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metric tons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B7E7DA-AE79-DB81-E3DB-2F0B4EC57E42}"/>
              </a:ext>
            </a:extLst>
          </p:cNvPr>
          <p:cNvSpPr/>
          <p:nvPr/>
        </p:nvSpPr>
        <p:spPr>
          <a:xfrm>
            <a:off x="-1" y="681911"/>
            <a:ext cx="801403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4510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2E7D77-CADF-8CFB-5E78-385A24D2E1D7}"/>
              </a:ext>
            </a:extLst>
          </p:cNvPr>
          <p:cNvCxnSpPr/>
          <p:nvPr/>
        </p:nvCxnSpPr>
        <p:spPr>
          <a:xfrm>
            <a:off x="863600" y="1186832"/>
            <a:ext cx="59944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7710DE-7939-945E-B527-BF76480D229E}"/>
              </a:ext>
            </a:extLst>
          </p:cNvPr>
          <p:cNvSpPr/>
          <p:nvPr/>
        </p:nvSpPr>
        <p:spPr>
          <a:xfrm>
            <a:off x="0" y="147936"/>
            <a:ext cx="801403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Flight Emissions Report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4D9C7B2-715A-EDAF-D69C-C9FD18784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826340"/>
              </p:ext>
            </p:extLst>
          </p:nvPr>
        </p:nvGraphicFramePr>
        <p:xfrm>
          <a:off x="1346843" y="1528693"/>
          <a:ext cx="5027914" cy="45685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51873">
                  <a:extLst>
                    <a:ext uri="{9D8B030D-6E8A-4147-A177-3AD203B41FA5}">
                      <a16:colId xmlns:a16="http://schemas.microsoft.com/office/drawing/2014/main" val="2499644803"/>
                    </a:ext>
                  </a:extLst>
                </a:gridCol>
                <a:gridCol w="2176041">
                  <a:extLst>
                    <a:ext uri="{9D8B030D-6E8A-4147-A177-3AD203B41FA5}">
                      <a16:colId xmlns:a16="http://schemas.microsoft.com/office/drawing/2014/main" val="1784677445"/>
                    </a:ext>
                  </a:extLst>
                </a:gridCol>
              </a:tblGrid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Airline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3828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04 – May 17,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6791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Aircrafts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535783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Flights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9,114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28432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Flights with CO2e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2,803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828773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Flight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21,728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337251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Flight hours w. contrails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1,676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173735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Fuel burn [metric tons]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82,001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180303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NOx [metric tons]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1,332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493421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CO2 [metric tons]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259,051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625757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pPr marL="0" marR="0" lvl="0" indent="0" algn="l" defTabSz="77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GWP20-CO2e [metric tons]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124,523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474904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GWP100-CO2e [metric tons]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33,924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69453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98B7E7DA-AE79-DB81-E3DB-2F0B4EC57E42}"/>
              </a:ext>
            </a:extLst>
          </p:cNvPr>
          <p:cNvSpPr/>
          <p:nvPr/>
        </p:nvSpPr>
        <p:spPr>
          <a:xfrm>
            <a:off x="-1" y="681911"/>
            <a:ext cx="801403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By the Numbers</a:t>
            </a:r>
          </a:p>
        </p:txBody>
      </p:sp>
    </p:spTree>
    <p:extLst>
      <p:ext uri="{BB962C8B-B14F-4D97-AF65-F5344CB8AC3E}">
        <p14:creationId xmlns:p14="http://schemas.microsoft.com/office/powerpoint/2010/main" val="130892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2E7D77-CADF-8CFB-5E78-385A24D2E1D7}"/>
              </a:ext>
            </a:extLst>
          </p:cNvPr>
          <p:cNvCxnSpPr/>
          <p:nvPr/>
        </p:nvCxnSpPr>
        <p:spPr>
          <a:xfrm>
            <a:off x="863600" y="1186832"/>
            <a:ext cx="59944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7710DE-7939-945E-B527-BF76480D229E}"/>
              </a:ext>
            </a:extLst>
          </p:cNvPr>
          <p:cNvSpPr/>
          <p:nvPr/>
        </p:nvSpPr>
        <p:spPr>
          <a:xfrm>
            <a:off x="0" y="147936"/>
            <a:ext cx="801403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Flight Emissions Report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4D9C7B2-715A-EDAF-D69C-C9FD18784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952429"/>
              </p:ext>
            </p:extLst>
          </p:nvPr>
        </p:nvGraphicFramePr>
        <p:xfrm>
          <a:off x="1346843" y="1567489"/>
          <a:ext cx="5027914" cy="11421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51873">
                  <a:extLst>
                    <a:ext uri="{9D8B030D-6E8A-4147-A177-3AD203B41FA5}">
                      <a16:colId xmlns:a16="http://schemas.microsoft.com/office/drawing/2014/main" val="2499644803"/>
                    </a:ext>
                  </a:extLst>
                </a:gridCol>
                <a:gridCol w="2176041">
                  <a:extLst>
                    <a:ext uri="{9D8B030D-6E8A-4147-A177-3AD203B41FA5}">
                      <a16:colId xmlns:a16="http://schemas.microsoft.com/office/drawing/2014/main" val="1784677445"/>
                    </a:ext>
                  </a:extLst>
                </a:gridCol>
              </a:tblGrid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Aircrafts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3828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04 – May 17, 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86791"/>
                  </a:ext>
                </a:extLst>
              </a:tr>
              <a:tr h="380712">
                <a:tc>
                  <a:txBody>
                    <a:bodyPr/>
                    <a:lstStyle/>
                    <a:p>
                      <a:r>
                        <a:rPr lang="en-US" dirty="0"/>
                        <a:t>Flights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9,114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535783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98B7E7DA-AE79-DB81-E3DB-2F0B4EC57E42}"/>
              </a:ext>
            </a:extLst>
          </p:cNvPr>
          <p:cNvSpPr/>
          <p:nvPr/>
        </p:nvSpPr>
        <p:spPr>
          <a:xfrm>
            <a:off x="-1" y="681911"/>
            <a:ext cx="801403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Fleet Stats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A66ADD-58E8-E0B4-44AD-FD9EFBFA3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03806"/>
              </p:ext>
            </p:extLst>
          </p:nvPr>
        </p:nvGraphicFramePr>
        <p:xfrm>
          <a:off x="338763" y="3090281"/>
          <a:ext cx="7273893" cy="6678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804">
                  <a:extLst>
                    <a:ext uri="{9D8B030D-6E8A-4147-A177-3AD203B41FA5}">
                      <a16:colId xmlns:a16="http://schemas.microsoft.com/office/drawing/2014/main" val="1442266956"/>
                    </a:ext>
                  </a:extLst>
                </a:gridCol>
                <a:gridCol w="1038104">
                  <a:extLst>
                    <a:ext uri="{9D8B030D-6E8A-4147-A177-3AD203B41FA5}">
                      <a16:colId xmlns:a16="http://schemas.microsoft.com/office/drawing/2014/main" val="2591679585"/>
                    </a:ext>
                  </a:extLst>
                </a:gridCol>
                <a:gridCol w="590781">
                  <a:extLst>
                    <a:ext uri="{9D8B030D-6E8A-4147-A177-3AD203B41FA5}">
                      <a16:colId xmlns:a16="http://schemas.microsoft.com/office/drawing/2014/main" val="221093501"/>
                    </a:ext>
                  </a:extLst>
                </a:gridCol>
                <a:gridCol w="648450">
                  <a:extLst>
                    <a:ext uri="{9D8B030D-6E8A-4147-A177-3AD203B41FA5}">
                      <a16:colId xmlns:a16="http://schemas.microsoft.com/office/drawing/2014/main" val="1441440770"/>
                    </a:ext>
                  </a:extLst>
                </a:gridCol>
                <a:gridCol w="1142916">
                  <a:extLst>
                    <a:ext uri="{9D8B030D-6E8A-4147-A177-3AD203B41FA5}">
                      <a16:colId xmlns:a16="http://schemas.microsoft.com/office/drawing/2014/main" val="1943221913"/>
                    </a:ext>
                  </a:extLst>
                </a:gridCol>
                <a:gridCol w="843771">
                  <a:extLst>
                    <a:ext uri="{9D8B030D-6E8A-4147-A177-3AD203B41FA5}">
                      <a16:colId xmlns:a16="http://schemas.microsoft.com/office/drawing/2014/main" val="3440893953"/>
                    </a:ext>
                  </a:extLst>
                </a:gridCol>
                <a:gridCol w="1032024">
                  <a:extLst>
                    <a:ext uri="{9D8B030D-6E8A-4147-A177-3AD203B41FA5}">
                      <a16:colId xmlns:a16="http://schemas.microsoft.com/office/drawing/2014/main" val="1721564298"/>
                    </a:ext>
                  </a:extLst>
                </a:gridCol>
                <a:gridCol w="465659">
                  <a:extLst>
                    <a:ext uri="{9D8B030D-6E8A-4147-A177-3AD203B41FA5}">
                      <a16:colId xmlns:a16="http://schemas.microsoft.com/office/drawing/2014/main" val="1840408287"/>
                    </a:ext>
                  </a:extLst>
                </a:gridCol>
                <a:gridCol w="903384">
                  <a:extLst>
                    <a:ext uri="{9D8B030D-6E8A-4147-A177-3AD203B41FA5}">
                      <a16:colId xmlns:a16="http://schemas.microsoft.com/office/drawing/2014/main" val="3755201418"/>
                    </a:ext>
                  </a:extLst>
                </a:gridCol>
              </a:tblGrid>
              <a:tr h="690226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flight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Fuel burn [mt]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CO2 [mt]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CO2e GWP20 [mt]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NOx [mt]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 err="1"/>
                        <a:t>nvPM</a:t>
                      </a:r>
                      <a:r>
                        <a:rPr lang="en-US" sz="1100" baseline="0" dirty="0"/>
                        <a:t> [kg]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990325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dirty="0"/>
                        <a:t>A319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01P10IA019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4.6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60795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A321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01P10IA024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62.8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467199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A332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01P14RR102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4,683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14,796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3,169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413.6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74541"/>
                  </a:ext>
                </a:extLst>
              </a:tr>
              <a:tr h="327096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A333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01P14RR101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3,724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11,764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8,750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341.4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241792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B737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01P11CM114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2,686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2,905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39.8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816823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B738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01P11CM116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5,269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16,650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28,269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285.3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619309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B739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01P11CM121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1,039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3,282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8,499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62.3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488447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B744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01P02GE186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886158"/>
                  </a:ext>
                </a:extLst>
              </a:tr>
              <a:tr h="429502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B772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2RR027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14,418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45,547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34,362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19,846,780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204080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B77W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01P21GE217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23,558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74,421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19,465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342.7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999185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B789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01P17GE212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2,419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11,988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37,872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1,509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293.0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011427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B78X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01P17GE213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2,045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10,671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33,710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1,271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26.3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991607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E170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01P08GE197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-36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860141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E190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8GE116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2,886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8,812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4,106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113.6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045568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E295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01P11CM112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1,318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1,709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5,400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7,456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70.8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049754"/>
                  </a:ext>
                </a:extLst>
              </a:tr>
              <a:tr h="373677"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E75L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01P08GE191</a:t>
                      </a:r>
                      <a:endParaRPr lang="en-US" sz="11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1,239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3,091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3,859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aseline="0" dirty="0"/>
                        <a:t>16.0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884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790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4339</TotalTime>
  <Words>308</Words>
  <Application>Microsoft Macintosh PowerPoint</Application>
  <PresentationFormat>Custom</PresentationFormat>
  <Paragraphs>206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Masson</dc:creator>
  <cp:lastModifiedBy>Nick Masson</cp:lastModifiedBy>
  <cp:revision>4</cp:revision>
  <dcterms:created xsi:type="dcterms:W3CDTF">2024-05-25T15:36:26Z</dcterms:created>
  <dcterms:modified xsi:type="dcterms:W3CDTF">2024-05-28T15:55:58Z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9de48b6-d94a-42bd-85fa-0bec9d040ded_Enabled">
    <vt:lpwstr>true</vt:lpwstr>
  </property>
  <property fmtid="{D5CDD505-2E9C-101B-9397-08002B2CF9AE}" pid="3" name="MSIP_Label_49de48b6-d94a-42bd-85fa-0bec9d040ded_SetDate">
    <vt:lpwstr>2024-05-25T15:36:44Z</vt:lpwstr>
  </property>
  <property fmtid="{D5CDD505-2E9C-101B-9397-08002B2CF9AE}" pid="4" name="MSIP_Label_49de48b6-d94a-42bd-85fa-0bec9d040ded_Method">
    <vt:lpwstr>Standard</vt:lpwstr>
  </property>
  <property fmtid="{D5CDD505-2E9C-101B-9397-08002B2CF9AE}" pid="5" name="MSIP_Label_49de48b6-d94a-42bd-85fa-0bec9d040ded_Name">
    <vt:lpwstr>General</vt:lpwstr>
  </property>
  <property fmtid="{D5CDD505-2E9C-101B-9397-08002B2CF9AE}" pid="6" name="MSIP_Label_49de48b6-d94a-42bd-85fa-0bec9d040ded_SiteId">
    <vt:lpwstr>16940056-0374-41ee-918a-557632270fe9</vt:lpwstr>
  </property>
  <property fmtid="{D5CDD505-2E9C-101B-9397-08002B2CF9AE}" pid="7" name="MSIP_Label_49de48b6-d94a-42bd-85fa-0bec9d040ded_ActionId">
    <vt:lpwstr>ca4307fd-4894-4688-996c-4d7fa88946d8</vt:lpwstr>
  </property>
  <property fmtid="{D5CDD505-2E9C-101B-9397-08002B2CF9AE}" pid="8" name="MSIP_Label_49de48b6-d94a-42bd-85fa-0bec9d040ded_ContentBits">
    <vt:lpwstr>0</vt:lpwstr>
  </property>
</Properties>
</file>