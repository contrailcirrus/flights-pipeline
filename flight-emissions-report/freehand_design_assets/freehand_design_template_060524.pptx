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6" r:id="rId2"/>
    <p:sldId id="264" r:id="rId3"/>
    <p:sldId id="267" r:id="rId4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BBF1"/>
    <a:srgbClr val="00A2B4"/>
    <a:srgbClr val="806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419C8-CF5C-419F-BFFD-4C5FAF813DAC}" v="1" dt="2024-06-04T18:04:31.967"/>
    <p1510:client id="{D85F6E56-AA18-9C42-911D-0855AF4441E6}" v="5" dt="2024-06-04T18:05:38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BEFF6-5717-D648-9C63-88CB6894AA66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62007-4A11-BA4F-9BE8-5C4CFB1A3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3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62007-4A11-BA4F-9BE8-5C4CFB1A36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8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</p:spPr>
        <p:txBody>
          <a:bodyPr anchor="b"/>
          <a:lstStyle>
            <a:lvl1pPr algn="ctr">
              <a:defRPr sz="38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1530"/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</p:spPr>
        <p:txBody>
          <a:bodyPr anchor="b"/>
          <a:lstStyle>
            <a:lvl1pPr>
              <a:defRPr sz="38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</p:spPr>
        <p:txBody>
          <a:bodyPr/>
          <a:lstStyle>
            <a:lvl1pPr marL="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1pPr>
            <a:lvl2pPr marL="291465" indent="0">
              <a:buNone/>
              <a:defRPr sz="1275">
                <a:solidFill>
                  <a:schemeClr val="tx1">
                    <a:tint val="82000"/>
                  </a:schemeClr>
                </a:solidFill>
              </a:defRPr>
            </a:lvl2pPr>
            <a:lvl3pPr marL="582930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3pPr>
            <a:lvl4pPr marL="87439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4pPr>
            <a:lvl5pPr marL="116586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5pPr>
            <a:lvl6pPr marL="145732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6pPr>
            <a:lvl7pPr marL="174879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7pPr>
            <a:lvl8pPr marL="204025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8pPr>
            <a:lvl9pPr marL="233172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5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4"/>
            <a:ext cx="3934778" cy="7147983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4"/>
            <a:ext cx="3934778" cy="7147983"/>
          </a:xfrm>
        </p:spPr>
        <p:txBody>
          <a:bodyPr anchor="t"/>
          <a:lstStyle>
            <a:lvl1pPr marL="0" indent="0">
              <a:buNone/>
              <a:defRPr sz="2040"/>
            </a:lvl1pPr>
            <a:lvl2pPr marL="291465" indent="0">
              <a:buNone/>
              <a:defRPr sz="1785"/>
            </a:lvl2pPr>
            <a:lvl3pPr marL="582930" indent="0">
              <a:buNone/>
              <a:defRPr sz="1530"/>
            </a:lvl3pPr>
            <a:lvl4pPr marL="874395" indent="0">
              <a:buNone/>
              <a:defRPr sz="1275"/>
            </a:lvl4pPr>
            <a:lvl5pPr marL="1165860" indent="0">
              <a:buNone/>
              <a:defRPr sz="1275"/>
            </a:lvl5pPr>
            <a:lvl6pPr marL="1457325" indent="0">
              <a:buNone/>
              <a:defRPr sz="1275"/>
            </a:lvl6pPr>
            <a:lvl7pPr marL="1748790" indent="0">
              <a:buNone/>
              <a:defRPr sz="1275"/>
            </a:lvl7pPr>
            <a:lvl8pPr marL="2040255" indent="0">
              <a:buNone/>
              <a:defRPr sz="1275"/>
            </a:lvl8pPr>
            <a:lvl9pPr marL="2331720" indent="0">
              <a:buNone/>
              <a:defRPr sz="127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y.contrails.org/api/pycontrails.models.emissions.Emissions.html#pycontrails.models.emissions.Emission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acp.copernicus.org/articles/24/725/2024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y.contrails.org/api/pycontrails.models.ps_model.PSFlight.html#pycontrails.models.ps_model.PSFlight" TargetMode="External"/><Relationship Id="rId11" Type="http://schemas.openxmlformats.org/officeDocument/2006/relationships/hyperlink" Target="https://www.ecmwf.int/en/forecasts/datasets/set-i" TargetMode="External"/><Relationship Id="rId5" Type="http://schemas.openxmlformats.org/officeDocument/2006/relationships/hyperlink" Target="https://doi.org/10.1017/aer.2020.124" TargetMode="External"/><Relationship Id="rId10" Type="http://schemas.openxmlformats.org/officeDocument/2006/relationships/hyperlink" Target="https://py.contrails.org/api/pycontrails.models.cocip.Cocip.html#pycontrails.models.cocip.Cocip" TargetMode="External"/><Relationship Id="rId4" Type="http://schemas.openxmlformats.org/officeDocument/2006/relationships/hyperlink" Target="https://doi.org/10.1017/aer.2020.62" TargetMode="External"/><Relationship Id="rId9" Type="http://schemas.openxmlformats.org/officeDocument/2006/relationships/hyperlink" Target="https://acp.copernicus.org/articles/24/6071/20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764205B-3E80-7B5E-ABB7-36108CEAB49C}"/>
              </a:ext>
            </a:extLst>
          </p:cNvPr>
          <p:cNvSpPr/>
          <p:nvPr/>
        </p:nvSpPr>
        <p:spPr>
          <a:xfrm>
            <a:off x="360510" y="3066747"/>
            <a:ext cx="7098125" cy="4732547"/>
          </a:xfrm>
          <a:prstGeom prst="roundRect">
            <a:avLst>
              <a:gd name="adj" fmla="val 6627"/>
            </a:avLst>
          </a:prstGeom>
          <a:noFill/>
          <a:ln w="38100">
            <a:solidFill>
              <a:srgbClr val="03BB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15;g2da030544c1_0_0">
            <a:extLst>
              <a:ext uri="{FF2B5EF4-FFF2-40B4-BE49-F238E27FC236}">
                <a16:creationId xmlns:a16="http://schemas.microsoft.com/office/drawing/2014/main" id="{96DECCD6-64E2-8AF9-0702-7CA392A17BC8}"/>
              </a:ext>
            </a:extLst>
          </p:cNvPr>
          <p:cNvSpPr txBox="1">
            <a:spLocks/>
          </p:cNvSpPr>
          <p:nvPr/>
        </p:nvSpPr>
        <p:spPr>
          <a:xfrm>
            <a:off x="5364520" y="1116445"/>
            <a:ext cx="2816690" cy="3312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ts val="3600"/>
              </a:lnSpc>
              <a:spcBef>
                <a:spcPts val="750"/>
              </a:spcBef>
            </a:pPr>
            <a:r>
              <a:rPr lang="en-US" sz="2000">
                <a:solidFill>
                  <a:srgbClr val="595959"/>
                </a:solidFill>
                <a:latin typeface="Saira Light"/>
              </a:rPr>
              <a:t>Summary</a:t>
            </a:r>
            <a:endParaRPr lang="en-US" sz="700">
              <a:solidFill>
                <a:srgbClr val="59595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AFEEC-0F91-8790-5DFF-3F86CB807A30}"/>
              </a:ext>
            </a:extLst>
          </p:cNvPr>
          <p:cNvSpPr txBox="1"/>
          <p:nvPr/>
        </p:nvSpPr>
        <p:spPr>
          <a:xfrm>
            <a:off x="637312" y="5787243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</a:t>
            </a:r>
            <a:r>
              <a:rPr lang="en-US" sz="24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 Impact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DCB2F6-1C6A-4F81-7EC0-2A07360DFC60}"/>
              </a:ext>
            </a:extLst>
          </p:cNvPr>
          <p:cNvCxnSpPr>
            <a:cxnSpLocks/>
          </p:cNvCxnSpPr>
          <p:nvPr/>
        </p:nvCxnSpPr>
        <p:spPr>
          <a:xfrm flipH="1" flipV="1">
            <a:off x="659089" y="6285388"/>
            <a:ext cx="2632824" cy="7852"/>
          </a:xfrm>
          <a:prstGeom prst="line">
            <a:avLst/>
          </a:prstGeom>
          <a:ln w="57150">
            <a:solidFill>
              <a:srgbClr val="8067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30AB10-C9D0-EE55-202D-81F38A5D0AEF}"/>
              </a:ext>
            </a:extLst>
          </p:cNvPr>
          <p:cNvSpPr txBox="1"/>
          <p:nvPr/>
        </p:nvSpPr>
        <p:spPr>
          <a:xfrm>
            <a:off x="643793" y="3329405"/>
            <a:ext cx="2581125" cy="1084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Contrails </a:t>
            </a:r>
            <a:br>
              <a:rPr lang="en-US" sz="3200">
                <a:latin typeface="Outfit"/>
              </a:rPr>
            </a:br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</a:t>
            </a:r>
            <a:r>
              <a:rPr lang="en-US" sz="32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e Impact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A2CFA1-DEC0-BA32-BCC1-EB7108223489}"/>
              </a:ext>
            </a:extLst>
          </p:cNvPr>
          <p:cNvCxnSpPr>
            <a:cxnSpLocks/>
          </p:cNvCxnSpPr>
          <p:nvPr/>
        </p:nvCxnSpPr>
        <p:spPr>
          <a:xfrm flipH="1" flipV="1">
            <a:off x="672461" y="4510261"/>
            <a:ext cx="2604831" cy="7853"/>
          </a:xfrm>
          <a:prstGeom prst="line">
            <a:avLst/>
          </a:prstGeom>
          <a:ln w="57150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0E7658-A6B9-3F9B-C193-FE3AD622AF8F}"/>
              </a:ext>
            </a:extLst>
          </p:cNvPr>
          <p:cNvSpPr txBox="1"/>
          <p:nvPr/>
        </p:nvSpPr>
        <p:spPr>
          <a:xfrm>
            <a:off x="470819" y="1725921"/>
            <a:ext cx="1483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Airline: KLM</a:t>
            </a:r>
            <a:endParaRPr lang="en-US">
              <a:solidFill>
                <a:srgbClr val="000000"/>
              </a:solidFill>
              <a:latin typeface="Outfi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7C0430-8AB0-EC6B-5C3B-668784A5BCD9}"/>
              </a:ext>
            </a:extLst>
          </p:cNvPr>
          <p:cNvSpPr txBox="1"/>
          <p:nvPr/>
        </p:nvSpPr>
        <p:spPr>
          <a:xfrm>
            <a:off x="2659153" y="1728461"/>
            <a:ext cx="43064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Period: May 04 – May 17, 2024</a:t>
            </a:r>
          </a:p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357725-5E8C-9676-4718-E7B0C0D7674B}"/>
              </a:ext>
            </a:extLst>
          </p:cNvPr>
          <p:cNvSpPr txBox="1"/>
          <p:nvPr/>
        </p:nvSpPr>
        <p:spPr>
          <a:xfrm>
            <a:off x="677900" y="2343202"/>
            <a:ext cx="12338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Flights - 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AE0D6A-54D5-BF90-5737-C2F4EF4D493F}"/>
              </a:ext>
            </a:extLst>
          </p:cNvPr>
          <p:cNvSpPr txBox="1"/>
          <p:nvPr/>
        </p:nvSpPr>
        <p:spPr>
          <a:xfrm>
            <a:off x="4084567" y="2333902"/>
            <a:ext cx="174771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Flight Hours -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" name="Picture 29" descr="A blue airplane on a black background&#10;&#10;Description automatically generated">
            <a:extLst>
              <a:ext uri="{FF2B5EF4-FFF2-40B4-BE49-F238E27FC236}">
                <a16:creationId xmlns:a16="http://schemas.microsoft.com/office/drawing/2014/main" id="{2E1D1750-7432-4F0A-DA2D-7D5537B19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0" y="2391502"/>
            <a:ext cx="293878" cy="270768"/>
          </a:xfrm>
          <a:prstGeom prst="rect">
            <a:avLst/>
          </a:prstGeom>
        </p:spPr>
      </p:pic>
      <p:pic>
        <p:nvPicPr>
          <p:cNvPr id="31" name="Picture 30" descr="A blue clock with black background&#10;&#10;Description automatically generated">
            <a:extLst>
              <a:ext uri="{FF2B5EF4-FFF2-40B4-BE49-F238E27FC236}">
                <a16:creationId xmlns:a16="http://schemas.microsoft.com/office/drawing/2014/main" id="{5A28CED9-6C08-BC2E-6719-3292861E7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276" y="2342063"/>
            <a:ext cx="271475" cy="27093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1985156-C0A1-3BBD-5D51-76B952E9BB1F}"/>
              </a:ext>
            </a:extLst>
          </p:cNvPr>
          <p:cNvSpPr txBox="1"/>
          <p:nvPr/>
        </p:nvSpPr>
        <p:spPr>
          <a:xfrm>
            <a:off x="863552" y="4597400"/>
            <a:ext cx="22475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Estimated GWP100 CO</a:t>
            </a:r>
            <a:r>
              <a:rPr lang="en-US" sz="12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e *</a:t>
            </a:r>
            <a:b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</a:b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 from contrails</a:t>
            </a:r>
            <a:endParaRPr 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7DD26F-4B93-FD66-33B6-A948584837A7}"/>
              </a:ext>
            </a:extLst>
          </p:cNvPr>
          <p:cNvSpPr txBox="1"/>
          <p:nvPr/>
        </p:nvSpPr>
        <p:spPr>
          <a:xfrm>
            <a:off x="859414" y="6448324"/>
            <a:ext cx="22493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Estimated CO</a:t>
            </a:r>
            <a:r>
              <a:rPr lang="en-US" sz="12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2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 emissions from jet fuel combustion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EADBF3-5C41-D983-2989-C5C23893A2ED}"/>
              </a:ext>
            </a:extLst>
          </p:cNvPr>
          <p:cNvCxnSpPr>
            <a:cxnSpLocks/>
          </p:cNvCxnSpPr>
          <p:nvPr/>
        </p:nvCxnSpPr>
        <p:spPr>
          <a:xfrm flipH="1" flipV="1">
            <a:off x="620426" y="5232901"/>
            <a:ext cx="6574444" cy="2078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ack background with blue and grey text&#10;&#10;Description automatically generated">
            <a:extLst>
              <a:ext uri="{FF2B5EF4-FFF2-40B4-BE49-F238E27FC236}">
                <a16:creationId xmlns:a16="http://schemas.microsoft.com/office/drawing/2014/main" id="{476220CD-B358-8DDA-273C-9C6D461A3B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191" t="32010" r="11010" b="28688"/>
          <a:stretch/>
        </p:blipFill>
        <p:spPr>
          <a:xfrm>
            <a:off x="5947250" y="9424016"/>
            <a:ext cx="1444468" cy="433510"/>
          </a:xfrm>
          <a:prstGeom prst="rect">
            <a:avLst/>
          </a:prstGeom>
        </p:spPr>
      </p:pic>
      <p:pic>
        <p:nvPicPr>
          <p:cNvPr id="13" name="Picture 12" descr="A black and blue rectangle&#10;&#10;Description automatically generated">
            <a:extLst>
              <a:ext uri="{FF2B5EF4-FFF2-40B4-BE49-F238E27FC236}">
                <a16:creationId xmlns:a16="http://schemas.microsoft.com/office/drawing/2014/main" id="{304C0D16-5D49-53A8-C9D1-6ECCA9A18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390" y="1022037"/>
            <a:ext cx="7138720" cy="374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45B78F-8DDD-8601-B3A4-2655376A38DE}"/>
              </a:ext>
            </a:extLst>
          </p:cNvPr>
          <p:cNvSpPr txBox="1"/>
          <p:nvPr/>
        </p:nvSpPr>
        <p:spPr>
          <a:xfrm>
            <a:off x="417285" y="9420984"/>
            <a:ext cx="41311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595959"/>
                </a:solidFill>
                <a:latin typeface="Outfit"/>
              </a:rPr>
              <a:t>*(CO</a:t>
            </a:r>
            <a:r>
              <a:rPr lang="en-US" sz="800" baseline="-25000">
                <a:solidFill>
                  <a:srgbClr val="595959"/>
                </a:solidFill>
                <a:latin typeface="Outfit"/>
              </a:rPr>
              <a:t>2</a:t>
            </a:r>
            <a:r>
              <a:rPr lang="en-US" sz="1200">
                <a:solidFill>
                  <a:srgbClr val="595959"/>
                </a:solidFill>
                <a:latin typeface="Outfit"/>
              </a:rPr>
              <a:t> equivalence, 100 </a:t>
            </a:r>
            <a:r>
              <a:rPr lang="en-US" sz="1200" err="1">
                <a:solidFill>
                  <a:srgbClr val="595959"/>
                </a:solidFill>
                <a:latin typeface="Outfit"/>
              </a:rPr>
              <a:t>yr</a:t>
            </a:r>
            <a:r>
              <a:rPr lang="en-US" sz="1200">
                <a:solidFill>
                  <a:srgbClr val="595959"/>
                </a:solidFill>
                <a:latin typeface="Outfit"/>
              </a:rPr>
              <a:t> Global Warming Potential)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3DB3DB-BD56-8569-EA66-0CB33CC7B855}"/>
              </a:ext>
            </a:extLst>
          </p:cNvPr>
          <p:cNvSpPr txBox="1"/>
          <p:nvPr/>
        </p:nvSpPr>
        <p:spPr>
          <a:xfrm>
            <a:off x="3906232" y="45979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Metric tons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856A39-0111-60A0-EFD7-59CB80B5031F}"/>
              </a:ext>
            </a:extLst>
          </p:cNvPr>
          <p:cNvSpPr txBox="1"/>
          <p:nvPr/>
        </p:nvSpPr>
        <p:spPr>
          <a:xfrm>
            <a:off x="4262387" y="653405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Metric tons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Google Shape;415;g2da030544c1_0_0">
            <a:extLst>
              <a:ext uri="{FF2B5EF4-FFF2-40B4-BE49-F238E27FC236}">
                <a16:creationId xmlns:a16="http://schemas.microsoft.com/office/drawing/2014/main" id="{865E7E47-6D2D-7DF8-F860-34429188B5C7}"/>
              </a:ext>
            </a:extLst>
          </p:cNvPr>
          <p:cNvSpPr txBox="1">
            <a:spLocks/>
          </p:cNvSpPr>
          <p:nvPr/>
        </p:nvSpPr>
        <p:spPr>
          <a:xfrm>
            <a:off x="458423" y="683343"/>
            <a:ext cx="6936335" cy="57190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>
                <a:solidFill>
                  <a:srgbClr val="595959"/>
                </a:solidFill>
                <a:latin typeface="Saira Light"/>
              </a:rPr>
              <a:t>Flight Emissions Report</a:t>
            </a:r>
            <a:endParaRPr lang="en-US" sz="3600">
              <a:solidFill>
                <a:srgbClr val="595959"/>
              </a:solidFill>
            </a:endParaRPr>
          </a:p>
        </p:txBody>
      </p:sp>
      <p:sp>
        <p:nvSpPr>
          <p:cNvPr id="57" name="Google Shape;415;g2da030544c1_0_0">
            <a:extLst>
              <a:ext uri="{FF2B5EF4-FFF2-40B4-BE49-F238E27FC236}">
                <a16:creationId xmlns:a16="http://schemas.microsoft.com/office/drawing/2014/main" id="{DD6D769D-3AAF-AE32-A3A2-3BD2BCDC4124}"/>
              </a:ext>
            </a:extLst>
          </p:cNvPr>
          <p:cNvSpPr txBox="1">
            <a:spLocks/>
          </p:cNvSpPr>
          <p:nvPr/>
        </p:nvSpPr>
        <p:spPr>
          <a:xfrm>
            <a:off x="450930" y="205105"/>
            <a:ext cx="2803392" cy="50248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>
                <a:solidFill>
                  <a:srgbClr val="595959"/>
                </a:solidFill>
                <a:latin typeface="Saira Light"/>
              </a:rPr>
              <a:t>Reviate</a:t>
            </a:r>
            <a:endParaRPr lang="en-US" sz="110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35BA94E-6BAA-734A-7BA1-C69BA4B3F4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806" y="3527710"/>
            <a:ext cx="3453872" cy="98755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CDD8ED2-9D4B-DD7D-3B89-5343FE4BBF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2067" y="5756850"/>
            <a:ext cx="2427474" cy="69499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B22E800-C907-AF4F-C1B9-32AC73EBED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947" y="2232134"/>
            <a:ext cx="1842153" cy="52741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BA1CD61-C988-BA30-C0A8-CA822B25AA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4574" y="2247561"/>
            <a:ext cx="1842150" cy="527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89CD0B-A72D-D818-E527-2756D703A885}"/>
              </a:ext>
            </a:extLst>
          </p:cNvPr>
          <p:cNvSpPr txBox="1"/>
          <p:nvPr/>
        </p:nvSpPr>
        <p:spPr>
          <a:xfrm>
            <a:off x="2167397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9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6C310-181C-B8CE-8095-FAA31EE0A746}"/>
              </a:ext>
            </a:extLst>
          </p:cNvPr>
          <p:cNvSpPr txBox="1"/>
          <p:nvPr/>
        </p:nvSpPr>
        <p:spPr>
          <a:xfrm>
            <a:off x="2476670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,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222DF-319C-CF26-5E02-5B96AB293BE2}"/>
              </a:ext>
            </a:extLst>
          </p:cNvPr>
          <p:cNvSpPr txBox="1"/>
          <p:nvPr/>
        </p:nvSpPr>
        <p:spPr>
          <a:xfrm>
            <a:off x="2715755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</a:t>
            </a:r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F2F45-0A06-8ECF-A1D6-B761A322E431}"/>
              </a:ext>
            </a:extLst>
          </p:cNvPr>
          <p:cNvSpPr txBox="1"/>
          <p:nvPr/>
        </p:nvSpPr>
        <p:spPr>
          <a:xfrm>
            <a:off x="2939418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</a:t>
            </a:r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874C6-96F5-8821-22F7-D3F4584102B3}"/>
              </a:ext>
            </a:extLst>
          </p:cNvPr>
          <p:cNvSpPr txBox="1"/>
          <p:nvPr/>
        </p:nvSpPr>
        <p:spPr>
          <a:xfrm>
            <a:off x="3163083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4</a:t>
            </a:r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07CC8-220C-1AA8-57DD-793C49BB2662}"/>
              </a:ext>
            </a:extLst>
          </p:cNvPr>
          <p:cNvSpPr txBox="1"/>
          <p:nvPr/>
        </p:nvSpPr>
        <p:spPr>
          <a:xfrm>
            <a:off x="5992756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</a:t>
            </a:r>
            <a:endParaRPr lang="en-US"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BA8DA-303A-78BD-A929-B3B4E9114174}"/>
              </a:ext>
            </a:extLst>
          </p:cNvPr>
          <p:cNvSpPr txBox="1"/>
          <p:nvPr/>
        </p:nvSpPr>
        <p:spPr>
          <a:xfrm>
            <a:off x="6271277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,</a:t>
            </a:r>
            <a:endParaRPr 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14C63E-3BA1-33F7-276D-8AE0EF8DEC8E}"/>
              </a:ext>
            </a:extLst>
          </p:cNvPr>
          <p:cNvSpPr txBox="1"/>
          <p:nvPr/>
        </p:nvSpPr>
        <p:spPr>
          <a:xfrm>
            <a:off x="6464189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7</a:t>
            </a:r>
            <a:endParaRPr lang="en-US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128FC-77DE-FC6D-9190-17592B0525B5}"/>
              </a:ext>
            </a:extLst>
          </p:cNvPr>
          <p:cNvSpPr txBox="1"/>
          <p:nvPr/>
        </p:nvSpPr>
        <p:spPr>
          <a:xfrm>
            <a:off x="6687933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</a:t>
            </a:r>
            <a:endParaRPr lang="en-US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07AF3-C6FE-1236-8BA7-6FC483576055}"/>
              </a:ext>
            </a:extLst>
          </p:cNvPr>
          <p:cNvSpPr txBox="1"/>
          <p:nvPr/>
        </p:nvSpPr>
        <p:spPr>
          <a:xfrm>
            <a:off x="6942532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8</a:t>
            </a:r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FD1C9-F7E3-A5A5-413A-0C9E16C8CE3D}"/>
              </a:ext>
            </a:extLst>
          </p:cNvPr>
          <p:cNvSpPr txBox="1"/>
          <p:nvPr/>
        </p:nvSpPr>
        <p:spPr>
          <a:xfrm>
            <a:off x="5709669" y="2300575"/>
            <a:ext cx="249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</a:t>
            </a:r>
            <a:endParaRPr lang="en-US" sz="2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D472B-6996-1A4A-D121-31AA5BFC7699}"/>
              </a:ext>
            </a:extLst>
          </p:cNvPr>
          <p:cNvSpPr txBox="1"/>
          <p:nvPr/>
        </p:nvSpPr>
        <p:spPr>
          <a:xfrm>
            <a:off x="4051919" y="3651986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3</a:t>
            </a:r>
            <a:endParaRPr lang="en-US" sz="2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75384F-62FB-0367-06A5-F533E02C81C0}"/>
              </a:ext>
            </a:extLst>
          </p:cNvPr>
          <p:cNvSpPr txBox="1"/>
          <p:nvPr/>
        </p:nvSpPr>
        <p:spPr>
          <a:xfrm>
            <a:off x="4508388" y="3651986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3</a:t>
            </a:r>
            <a:endParaRPr lang="en-US" sz="2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5C0A8C-5F26-03AA-7D09-519F29272290}"/>
              </a:ext>
            </a:extLst>
          </p:cNvPr>
          <p:cNvSpPr txBox="1"/>
          <p:nvPr/>
        </p:nvSpPr>
        <p:spPr>
          <a:xfrm>
            <a:off x="5435358" y="3651986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9</a:t>
            </a:r>
            <a:endParaRPr lang="en-US" sz="3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FDD51D-38A9-D5C6-19E1-A8BC8DF8B1EE}"/>
              </a:ext>
            </a:extLst>
          </p:cNvPr>
          <p:cNvSpPr txBox="1"/>
          <p:nvPr/>
        </p:nvSpPr>
        <p:spPr>
          <a:xfrm>
            <a:off x="5928897" y="3651986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</a:t>
            </a:r>
            <a:endParaRPr lang="en-US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522887-21F4-3A7C-2252-D4E144AA749E}"/>
              </a:ext>
            </a:extLst>
          </p:cNvPr>
          <p:cNvSpPr txBox="1"/>
          <p:nvPr/>
        </p:nvSpPr>
        <p:spPr>
          <a:xfrm>
            <a:off x="6383882" y="3651986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4</a:t>
            </a:r>
            <a:endParaRPr lang="en-US" sz="2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324680-AE31-CCE7-5E71-96891D17A518}"/>
              </a:ext>
            </a:extLst>
          </p:cNvPr>
          <p:cNvSpPr txBox="1"/>
          <p:nvPr/>
        </p:nvSpPr>
        <p:spPr>
          <a:xfrm>
            <a:off x="5111668" y="3650435"/>
            <a:ext cx="4191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,</a:t>
            </a:r>
            <a:endParaRPr lang="en-US" sz="2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78E11B-D6E8-F62A-DA0A-9D4AA1BB0370}"/>
              </a:ext>
            </a:extLst>
          </p:cNvPr>
          <p:cNvSpPr txBox="1"/>
          <p:nvPr/>
        </p:nvSpPr>
        <p:spPr>
          <a:xfrm>
            <a:off x="4731976" y="5864209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5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9CE3ED-7DF3-D0BB-EB99-8BD2BA254303}"/>
              </a:ext>
            </a:extLst>
          </p:cNvPr>
          <p:cNvSpPr txBox="1"/>
          <p:nvPr/>
        </p:nvSpPr>
        <p:spPr>
          <a:xfrm>
            <a:off x="5049818" y="5864209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9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DBBFAB-E9E5-70A9-0EC5-EFDE9EC53F30}"/>
              </a:ext>
            </a:extLst>
          </p:cNvPr>
          <p:cNvSpPr txBox="1"/>
          <p:nvPr/>
        </p:nvSpPr>
        <p:spPr>
          <a:xfrm>
            <a:off x="5699536" y="5864209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0</a:t>
            </a:r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C3DC6C-1030-8D95-7993-7BBA536BE867}"/>
              </a:ext>
            </a:extLst>
          </p:cNvPr>
          <p:cNvSpPr txBox="1"/>
          <p:nvPr/>
        </p:nvSpPr>
        <p:spPr>
          <a:xfrm>
            <a:off x="6039040" y="5864208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5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665B8A-3905-2CB5-1FF8-2DF43BFB3646}"/>
              </a:ext>
            </a:extLst>
          </p:cNvPr>
          <p:cNvSpPr txBox="1"/>
          <p:nvPr/>
        </p:nvSpPr>
        <p:spPr>
          <a:xfrm>
            <a:off x="6409371" y="5856496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</a:t>
            </a:r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46F019-F15B-DC9E-7425-C3C3794947A1}"/>
              </a:ext>
            </a:extLst>
          </p:cNvPr>
          <p:cNvSpPr txBox="1"/>
          <p:nvPr/>
        </p:nvSpPr>
        <p:spPr>
          <a:xfrm>
            <a:off x="5483680" y="5864208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,</a:t>
            </a:r>
            <a:endParaRPr lang="en-US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3B0828-54F0-4B6D-0283-C4F2F0F4497D}"/>
              </a:ext>
            </a:extLst>
          </p:cNvPr>
          <p:cNvSpPr txBox="1"/>
          <p:nvPr/>
        </p:nvSpPr>
        <p:spPr>
          <a:xfrm>
            <a:off x="4394082" y="5864209"/>
            <a:ext cx="41910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11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15;g2da030544c1_0_0">
            <a:extLst>
              <a:ext uri="{FF2B5EF4-FFF2-40B4-BE49-F238E27FC236}">
                <a16:creationId xmlns:a16="http://schemas.microsoft.com/office/drawing/2014/main" id="{B5E5FCFD-4D5A-802D-56CA-554539450331}"/>
              </a:ext>
            </a:extLst>
          </p:cNvPr>
          <p:cNvSpPr txBox="1">
            <a:spLocks/>
          </p:cNvSpPr>
          <p:nvPr/>
        </p:nvSpPr>
        <p:spPr>
          <a:xfrm>
            <a:off x="458423" y="683343"/>
            <a:ext cx="6936335" cy="57190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>
                <a:solidFill>
                  <a:srgbClr val="595959"/>
                </a:solidFill>
                <a:latin typeface="Saira Light"/>
              </a:rPr>
              <a:t>Flight Emissions Report</a:t>
            </a:r>
            <a:endParaRPr lang="en-US" sz="3600">
              <a:solidFill>
                <a:srgbClr val="595959"/>
              </a:solidFill>
            </a:endParaRPr>
          </a:p>
        </p:txBody>
      </p:sp>
      <p:pic>
        <p:nvPicPr>
          <p:cNvPr id="32" name="Picture 31" descr="A black and blue rectangle&#10;&#10;Description automatically generated">
            <a:extLst>
              <a:ext uri="{FF2B5EF4-FFF2-40B4-BE49-F238E27FC236}">
                <a16:creationId xmlns:a16="http://schemas.microsoft.com/office/drawing/2014/main" id="{A3770DC0-9DA1-B358-0CE9-C0A0A29E7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90" y="1022037"/>
            <a:ext cx="7138720" cy="37483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7092CE-6A9B-E003-DB59-093206E6D3F0}"/>
              </a:ext>
            </a:extLst>
          </p:cNvPr>
          <p:cNvSpPr txBox="1"/>
          <p:nvPr/>
        </p:nvSpPr>
        <p:spPr>
          <a:xfrm>
            <a:off x="917210" y="2321296"/>
            <a:ext cx="2743200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Airline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Period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Aircrafts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Flights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Flight Hours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Fuel Burn [metric tons] :</a:t>
            </a: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639A4-97D0-7B4A-8885-05692DDC2C82}"/>
              </a:ext>
            </a:extLst>
          </p:cNvPr>
          <p:cNvSpPr txBox="1"/>
          <p:nvPr/>
        </p:nvSpPr>
        <p:spPr>
          <a:xfrm>
            <a:off x="2057108" y="1847869"/>
            <a:ext cx="36813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Operations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19468E-A741-7BA9-6FB9-010C4166E786}"/>
              </a:ext>
            </a:extLst>
          </p:cNvPr>
          <p:cNvCxnSpPr>
            <a:cxnSpLocks/>
          </p:cNvCxnSpPr>
          <p:nvPr/>
        </p:nvCxnSpPr>
        <p:spPr>
          <a:xfrm flipH="1" flipV="1">
            <a:off x="3800074" y="2319889"/>
            <a:ext cx="12086" cy="1766031"/>
          </a:xfrm>
          <a:prstGeom prst="line">
            <a:avLst/>
          </a:prstGeom>
          <a:ln w="28575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928790-A601-006E-3F29-0267A1EADB32}"/>
              </a:ext>
            </a:extLst>
          </p:cNvPr>
          <p:cNvSpPr txBox="1"/>
          <p:nvPr/>
        </p:nvSpPr>
        <p:spPr>
          <a:xfrm>
            <a:off x="4082043" y="2321340"/>
            <a:ext cx="27432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  <a:ea typeface="+mn-lt"/>
                <a:cs typeface="+mn-lt"/>
              </a:rPr>
              <a:t>KLM </a:t>
            </a:r>
            <a:endParaRPr lang="en-US">
              <a:solidFill>
                <a:srgbClr val="000000"/>
              </a:solidFill>
              <a:latin typeface="Saira Light"/>
              <a:ea typeface="+mn-lt"/>
              <a:cs typeface="+mn-lt"/>
            </a:endParaRP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May 04-May 17, 2024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161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9,114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21,728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82,001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ED48E-443D-DE6A-F2FB-3625D7EF2A2E}"/>
              </a:ext>
            </a:extLst>
          </p:cNvPr>
          <p:cNvSpPr txBox="1"/>
          <p:nvPr/>
        </p:nvSpPr>
        <p:spPr>
          <a:xfrm>
            <a:off x="2057850" y="7596121"/>
            <a:ext cx="36813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Emissions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[Metric Tons]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3D082B-44D4-C71C-204E-8A07F311CE40}"/>
              </a:ext>
            </a:extLst>
          </p:cNvPr>
          <p:cNvSpPr txBox="1"/>
          <p:nvPr/>
        </p:nvSpPr>
        <p:spPr>
          <a:xfrm>
            <a:off x="894519" y="8091768"/>
            <a:ext cx="2743200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CO</a:t>
            </a:r>
            <a:r>
              <a:rPr lang="en-US" sz="17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2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  :</a:t>
            </a: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NOx  :</a:t>
            </a: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SO</a:t>
            </a:r>
            <a:r>
              <a:rPr lang="en-US" sz="17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0312D-55FC-3154-F633-96115CB142C3}"/>
              </a:ext>
            </a:extLst>
          </p:cNvPr>
          <p:cNvSpPr txBox="1"/>
          <p:nvPr/>
        </p:nvSpPr>
        <p:spPr>
          <a:xfrm>
            <a:off x="4083368" y="8091812"/>
            <a:ext cx="2743200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  <a:ea typeface="+mn-lt"/>
                <a:cs typeface="+mn-lt"/>
              </a:rPr>
              <a:t>259,051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1,332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523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3A57F-34CA-4718-6A34-4F766D945559}"/>
              </a:ext>
            </a:extLst>
          </p:cNvPr>
          <p:cNvSpPr txBox="1"/>
          <p:nvPr/>
        </p:nvSpPr>
        <p:spPr>
          <a:xfrm>
            <a:off x="2058593" y="4476656"/>
            <a:ext cx="36813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Contrails</a:t>
            </a:r>
            <a:endParaRPr 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66A7E-A31D-0942-20EA-E0288E4C05D0}"/>
              </a:ext>
            </a:extLst>
          </p:cNvPr>
          <p:cNvSpPr txBox="1"/>
          <p:nvPr/>
        </p:nvSpPr>
        <p:spPr>
          <a:xfrm>
            <a:off x="234717" y="4895475"/>
            <a:ext cx="3403193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Flights with </a:t>
            </a: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</a:b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warming contrails :</a:t>
            </a: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</a:br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  <a:ea typeface="+mn-lt"/>
              <a:cs typeface="+mn-l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Flight hours with </a:t>
            </a: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</a:b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warming contrails :</a:t>
            </a:r>
          </a:p>
          <a:p>
            <a:pPr algn="r"/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Outfit"/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Contrail CO</a:t>
            </a:r>
            <a:r>
              <a:rPr lang="en-US" sz="17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e , 20 [</a:t>
            </a:r>
            <a:r>
              <a:rPr lang="en-US" sz="1700" err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tonnes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] 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Contrail CO</a:t>
            </a:r>
            <a:r>
              <a:rPr lang="en-US" sz="1700" baseline="-250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2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e, 100 [</a:t>
            </a:r>
            <a:r>
              <a:rPr lang="en-US" sz="1700" err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tonnes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] 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620737-690E-887E-4AAF-41F287C396F0}"/>
              </a:ext>
            </a:extLst>
          </p:cNvPr>
          <p:cNvSpPr txBox="1"/>
          <p:nvPr/>
        </p:nvSpPr>
        <p:spPr>
          <a:xfrm>
            <a:off x="4084282" y="4957227"/>
            <a:ext cx="27432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Saira Light"/>
            </a:endParaRP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2,803  (30%)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Saira Light"/>
            </a:endParaRPr>
          </a:p>
          <a:p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Saira Light"/>
            </a:endParaRP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1,676  (8%)</a:t>
            </a:r>
          </a:p>
          <a:p>
            <a:endParaRPr lang="en-US" sz="1700">
              <a:solidFill>
                <a:schemeClr val="tx1">
                  <a:lumMod val="65000"/>
                  <a:lumOff val="35000"/>
                </a:schemeClr>
              </a:solidFill>
              <a:latin typeface="Saira Light"/>
            </a:endParaRP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124,523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33,924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5FBC29-B33B-BBCD-CEFD-961FAE89DD23}"/>
              </a:ext>
            </a:extLst>
          </p:cNvPr>
          <p:cNvCxnSpPr>
            <a:cxnSpLocks/>
          </p:cNvCxnSpPr>
          <p:nvPr/>
        </p:nvCxnSpPr>
        <p:spPr>
          <a:xfrm flipH="1" flipV="1">
            <a:off x="3832357" y="5073608"/>
            <a:ext cx="4376" cy="2066856"/>
          </a:xfrm>
          <a:prstGeom prst="line">
            <a:avLst/>
          </a:prstGeom>
          <a:ln w="28575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01DEB4-9B57-7A93-DC23-81A5F2E10219}"/>
              </a:ext>
            </a:extLst>
          </p:cNvPr>
          <p:cNvCxnSpPr>
            <a:cxnSpLocks/>
          </p:cNvCxnSpPr>
          <p:nvPr/>
        </p:nvCxnSpPr>
        <p:spPr>
          <a:xfrm flipH="1" flipV="1">
            <a:off x="3847830" y="8128153"/>
            <a:ext cx="4376" cy="848121"/>
          </a:xfrm>
          <a:prstGeom prst="line">
            <a:avLst/>
          </a:prstGeom>
          <a:ln w="28575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415;g2da030544c1_0_0">
            <a:extLst>
              <a:ext uri="{FF2B5EF4-FFF2-40B4-BE49-F238E27FC236}">
                <a16:creationId xmlns:a16="http://schemas.microsoft.com/office/drawing/2014/main" id="{92F3C32A-96AD-5819-F928-91FC6A35DE2D}"/>
              </a:ext>
            </a:extLst>
          </p:cNvPr>
          <p:cNvSpPr txBox="1">
            <a:spLocks/>
          </p:cNvSpPr>
          <p:nvPr/>
        </p:nvSpPr>
        <p:spPr>
          <a:xfrm>
            <a:off x="5410784" y="1101018"/>
            <a:ext cx="2816690" cy="3312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ts val="3600"/>
              </a:lnSpc>
              <a:spcBef>
                <a:spcPts val="750"/>
              </a:spcBef>
            </a:pPr>
            <a:r>
              <a:rPr lang="en-US" sz="1600">
                <a:solidFill>
                  <a:srgbClr val="595959"/>
                </a:solidFill>
                <a:latin typeface="Saira Light"/>
              </a:rPr>
              <a:t>By The Numbers</a:t>
            </a:r>
            <a:endParaRPr lang="en-US" sz="1600"/>
          </a:p>
        </p:txBody>
      </p:sp>
      <p:sp>
        <p:nvSpPr>
          <p:cNvPr id="34" name="Google Shape;415;g2da030544c1_0_0">
            <a:extLst>
              <a:ext uri="{FF2B5EF4-FFF2-40B4-BE49-F238E27FC236}">
                <a16:creationId xmlns:a16="http://schemas.microsoft.com/office/drawing/2014/main" id="{DFBB23D1-E8DB-CC48-1579-8AA83F4A5FDB}"/>
              </a:ext>
            </a:extLst>
          </p:cNvPr>
          <p:cNvSpPr txBox="1">
            <a:spLocks/>
          </p:cNvSpPr>
          <p:nvPr/>
        </p:nvSpPr>
        <p:spPr>
          <a:xfrm>
            <a:off x="450930" y="205105"/>
            <a:ext cx="2803392" cy="50248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>
                <a:solidFill>
                  <a:srgbClr val="595959"/>
                </a:solidFill>
                <a:latin typeface="Saira Light"/>
              </a:rPr>
              <a:t>Reviate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9319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0C7092CE-6A9B-E003-DB59-093206E6D3F0}"/>
              </a:ext>
            </a:extLst>
          </p:cNvPr>
          <p:cNvSpPr txBox="1"/>
          <p:nvPr/>
        </p:nvSpPr>
        <p:spPr>
          <a:xfrm>
            <a:off x="605437" y="2288958"/>
            <a:ext cx="2743200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FER Version: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639A4-97D0-7B4A-8885-05692DDC2C82}"/>
              </a:ext>
            </a:extLst>
          </p:cNvPr>
          <p:cNvSpPr txBox="1"/>
          <p:nvPr/>
        </p:nvSpPr>
        <p:spPr>
          <a:xfrm>
            <a:off x="605583" y="1723635"/>
            <a:ext cx="36813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Version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19468E-A741-7BA9-6FB9-010C4166E786}"/>
              </a:ext>
            </a:extLst>
          </p:cNvPr>
          <p:cNvCxnSpPr>
            <a:cxnSpLocks/>
          </p:cNvCxnSpPr>
          <p:nvPr/>
        </p:nvCxnSpPr>
        <p:spPr>
          <a:xfrm flipH="1" flipV="1">
            <a:off x="606853" y="2110636"/>
            <a:ext cx="1685311" cy="15068"/>
          </a:xfrm>
          <a:prstGeom prst="line">
            <a:avLst/>
          </a:prstGeom>
          <a:ln w="28575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4ED48E-443D-DE6A-F2FB-3625D7EF2A2E}"/>
              </a:ext>
            </a:extLst>
          </p:cNvPr>
          <p:cNvSpPr txBox="1"/>
          <p:nvPr/>
        </p:nvSpPr>
        <p:spPr>
          <a:xfrm>
            <a:off x="606325" y="3774770"/>
            <a:ext cx="36813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Saira Light"/>
              </a:rPr>
              <a:t>Models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6E100E-FE74-3FA8-895A-1F8F00F8BBB5}"/>
              </a:ext>
            </a:extLst>
          </p:cNvPr>
          <p:cNvCxnSpPr>
            <a:cxnSpLocks/>
          </p:cNvCxnSpPr>
          <p:nvPr/>
        </p:nvCxnSpPr>
        <p:spPr>
          <a:xfrm flipH="1">
            <a:off x="607904" y="4169057"/>
            <a:ext cx="1685311" cy="466"/>
          </a:xfrm>
          <a:prstGeom prst="line">
            <a:avLst/>
          </a:prstGeom>
          <a:ln w="28575">
            <a:solidFill>
              <a:srgbClr val="03BB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219D2D-E164-4C1F-A8C2-473782495086}"/>
              </a:ext>
            </a:extLst>
          </p:cNvPr>
          <p:cNvSpPr txBox="1"/>
          <p:nvPr/>
        </p:nvSpPr>
        <p:spPr>
          <a:xfrm>
            <a:off x="605718" y="2770409"/>
            <a:ext cx="2743200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rgbClr val="444746"/>
                </a:solidFill>
                <a:latin typeface="Outfit"/>
                <a:ea typeface="+mn-lt"/>
                <a:cs typeface="+mn-lt"/>
              </a:rPr>
              <a:t>pycontrails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 Version: 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6A5414-A42B-3F6A-4460-2E051AFE7287}"/>
              </a:ext>
            </a:extLst>
          </p:cNvPr>
          <p:cNvSpPr txBox="1"/>
          <p:nvPr/>
        </p:nvSpPr>
        <p:spPr>
          <a:xfrm>
            <a:off x="2010807" y="2290497"/>
            <a:ext cx="13830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595959"/>
                </a:solidFill>
                <a:latin typeface="Saira Light"/>
              </a:rPr>
              <a:t>0.1.0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E5288-5084-C960-640E-C9EF36B78E6A}"/>
              </a:ext>
            </a:extLst>
          </p:cNvPr>
          <p:cNvSpPr txBox="1"/>
          <p:nvPr/>
        </p:nvSpPr>
        <p:spPr>
          <a:xfrm>
            <a:off x="2683911" y="2748654"/>
            <a:ext cx="13830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595959"/>
                </a:solidFill>
                <a:latin typeface="Saira Light"/>
              </a:rPr>
              <a:t>0.52.0</a:t>
            </a:r>
            <a:endParaRPr lang="en-US">
              <a:solidFill>
                <a:srgbClr val="595959"/>
              </a:solidFill>
            </a:endParaRPr>
          </a:p>
        </p:txBody>
      </p:sp>
      <p:pic>
        <p:nvPicPr>
          <p:cNvPr id="30" name="Picture 29" descr="A black background with blue and grey text&#10;&#10;Description automatically generated">
            <a:extLst>
              <a:ext uri="{FF2B5EF4-FFF2-40B4-BE49-F238E27FC236}">
                <a16:creationId xmlns:a16="http://schemas.microsoft.com/office/drawing/2014/main" id="{95D61F5D-5C98-7982-94F2-5F6960FA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64" y="7643014"/>
            <a:ext cx="3201678" cy="1813379"/>
          </a:xfrm>
          <a:prstGeom prst="rect">
            <a:avLst/>
          </a:prstGeom>
        </p:spPr>
      </p:pic>
      <p:sp>
        <p:nvSpPr>
          <p:cNvPr id="13" name="Google Shape;415;g2da030544c1_0_0">
            <a:extLst>
              <a:ext uri="{FF2B5EF4-FFF2-40B4-BE49-F238E27FC236}">
                <a16:creationId xmlns:a16="http://schemas.microsoft.com/office/drawing/2014/main" id="{10678892-807C-629C-385E-9D37D73EBA6F}"/>
              </a:ext>
            </a:extLst>
          </p:cNvPr>
          <p:cNvSpPr txBox="1">
            <a:spLocks/>
          </p:cNvSpPr>
          <p:nvPr/>
        </p:nvSpPr>
        <p:spPr>
          <a:xfrm>
            <a:off x="458423" y="683343"/>
            <a:ext cx="6936335" cy="57190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>
                <a:solidFill>
                  <a:srgbClr val="595959"/>
                </a:solidFill>
                <a:latin typeface="Saira Light"/>
              </a:rPr>
              <a:t>Flight Emissions Report</a:t>
            </a:r>
            <a:endParaRPr lang="en-US" sz="3600">
              <a:solidFill>
                <a:srgbClr val="595959"/>
              </a:solidFill>
            </a:endParaRPr>
          </a:p>
        </p:txBody>
      </p:sp>
      <p:pic>
        <p:nvPicPr>
          <p:cNvPr id="16" name="Picture 15" descr="A black and blue rectangle&#10;&#10;Description automatically generated">
            <a:extLst>
              <a:ext uri="{FF2B5EF4-FFF2-40B4-BE49-F238E27FC236}">
                <a16:creationId xmlns:a16="http://schemas.microsoft.com/office/drawing/2014/main" id="{8E498108-786C-A850-4A1E-C3577895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90" y="1022037"/>
            <a:ext cx="7138720" cy="374839"/>
          </a:xfrm>
          <a:prstGeom prst="rect">
            <a:avLst/>
          </a:prstGeom>
        </p:spPr>
      </p:pic>
      <p:sp>
        <p:nvSpPr>
          <p:cNvPr id="19" name="Google Shape;415;g2da030544c1_0_0">
            <a:extLst>
              <a:ext uri="{FF2B5EF4-FFF2-40B4-BE49-F238E27FC236}">
                <a16:creationId xmlns:a16="http://schemas.microsoft.com/office/drawing/2014/main" id="{2BAB081E-79C1-1B31-34FF-3A113C99F89E}"/>
              </a:ext>
            </a:extLst>
          </p:cNvPr>
          <p:cNvSpPr txBox="1">
            <a:spLocks/>
          </p:cNvSpPr>
          <p:nvPr/>
        </p:nvSpPr>
        <p:spPr>
          <a:xfrm>
            <a:off x="5410784" y="1101018"/>
            <a:ext cx="2816690" cy="3312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ts val="3600"/>
              </a:lnSpc>
              <a:spcBef>
                <a:spcPts val="750"/>
              </a:spcBef>
            </a:pPr>
            <a:r>
              <a:rPr lang="en-US" sz="1600">
                <a:solidFill>
                  <a:srgbClr val="595959"/>
                </a:solidFill>
                <a:latin typeface="Saira Light"/>
              </a:rPr>
              <a:t>Methodology</a:t>
            </a:r>
            <a:endParaRPr lang="en-US"/>
          </a:p>
        </p:txBody>
      </p:sp>
      <p:sp>
        <p:nvSpPr>
          <p:cNvPr id="28" name="Google Shape;415;g2da030544c1_0_0">
            <a:extLst>
              <a:ext uri="{FF2B5EF4-FFF2-40B4-BE49-F238E27FC236}">
                <a16:creationId xmlns:a16="http://schemas.microsoft.com/office/drawing/2014/main" id="{5C0256A9-3054-1E5B-8073-2E55BB0FE8A5}"/>
              </a:ext>
            </a:extLst>
          </p:cNvPr>
          <p:cNvSpPr txBox="1">
            <a:spLocks/>
          </p:cNvSpPr>
          <p:nvPr/>
        </p:nvSpPr>
        <p:spPr>
          <a:xfrm>
            <a:off x="450930" y="205105"/>
            <a:ext cx="2803392" cy="50248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>
                <a:solidFill>
                  <a:srgbClr val="595959"/>
                </a:solidFill>
                <a:latin typeface="Saira Light"/>
              </a:rPr>
              <a:t>Reviate</a:t>
            </a:r>
            <a:endParaRPr lang="en-US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D18A92-EB60-19BD-AB75-A91CACC6CD53}"/>
              </a:ext>
            </a:extLst>
          </p:cNvPr>
          <p:cNvSpPr txBox="1"/>
          <p:nvPr/>
        </p:nvSpPr>
        <p:spPr>
          <a:xfrm>
            <a:off x="575306" y="4333463"/>
            <a:ext cx="1557476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Emissions -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/>
              <a:ea typeface="+mn-lt"/>
              <a:cs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0B1C28-EC00-7390-D7A1-85643FCC01A7}"/>
              </a:ext>
            </a:extLst>
          </p:cNvPr>
          <p:cNvSpPr txBox="1"/>
          <p:nvPr/>
        </p:nvSpPr>
        <p:spPr>
          <a:xfrm>
            <a:off x="2117713" y="4341178"/>
            <a:ext cx="4865372" cy="32162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Aircraft Performance calculated by the Poll-Schumann model (</a:t>
            </a:r>
            <a:r>
              <a:rPr lang="en-US" sz="1200">
                <a:latin typeface="Outfit"/>
                <a:ea typeface="+mn-lt"/>
                <a:cs typeface="+mn-lt"/>
                <a:hlinkClick r:id="rId4"/>
              </a:rPr>
              <a:t>Poll &amp; Schumann 2021a,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5"/>
              </a:rPr>
              <a:t>Poll &amp; Schumann 2021b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) as implemented in </a:t>
            </a:r>
            <a:r>
              <a:rPr 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pycontrails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6"/>
              </a:rPr>
              <a:t>PSFlight</a:t>
            </a:r>
            <a:r>
              <a:rPr lang="en-US" sz="1200">
                <a:latin typeface="Outfit"/>
                <a:ea typeface="+mn-lt"/>
                <a:cs typeface="+mn-lt"/>
              </a:rPr>
              <a:t>.</a:t>
            </a:r>
            <a:endParaRPr lang="en-US">
              <a:latin typeface="Outfit"/>
              <a:ea typeface="+mn-lt"/>
              <a:cs typeface="+mn-lt"/>
            </a:endParaRPr>
          </a:p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Emissions calculated by the methods described in </a:t>
            </a:r>
            <a:r>
              <a:rPr lang="en-US" sz="1200">
                <a:latin typeface="Outfit"/>
                <a:ea typeface="+mn-lt"/>
                <a:cs typeface="+mn-lt"/>
                <a:hlinkClick r:id="rId7"/>
              </a:rPr>
              <a:t>Teoh et al 2024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and implemented in the </a:t>
            </a:r>
            <a:r>
              <a:rPr 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pycontrails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8"/>
              </a:rPr>
              <a:t>Emissions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model.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utfit"/>
              <a:ea typeface="+mn-lt"/>
              <a:cs typeface="+mn-lt"/>
            </a:endParaRPr>
          </a:p>
          <a:p>
            <a:endParaRPr lang="en-US" sz="800">
              <a:latin typeface="Outfit"/>
            </a:endParaRPr>
          </a:p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Contrail climate impacts estimated using the Contrail Cirrus Prediction model as described in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9"/>
              </a:rPr>
              <a:t>Teoh et al 2024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and implemented in the </a:t>
            </a:r>
            <a:r>
              <a:rPr 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pycontrails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10"/>
              </a:rPr>
              <a:t>CoCiP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 model.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utfit"/>
              <a:ea typeface="+mn-lt"/>
              <a:cs typeface="+mn-lt"/>
            </a:endParaRPr>
          </a:p>
          <a:p>
            <a:endParaRPr lang="en-US" sz="1200">
              <a:latin typeface="Outfit"/>
            </a:endParaRPr>
          </a:p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Meteorological inputs retrieved on model levels from the </a:t>
            </a:r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ECMWF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 </a:t>
            </a:r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Integrated Forecasting System (IFS), HRES forecast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.</a:t>
            </a:r>
            <a:r>
              <a:rPr lang="en-US" sz="1200">
                <a:latin typeface="Outfit"/>
                <a:ea typeface="+mn-lt"/>
                <a:cs typeface="+mn-lt"/>
              </a:rPr>
              <a:t> </a:t>
            </a:r>
            <a:r>
              <a:rPr lang="en-US" sz="1200">
                <a:latin typeface="Outfit"/>
                <a:ea typeface="+mn-lt"/>
                <a:cs typeface="+mn-lt"/>
                <a:hlinkClick r:id="rId11"/>
              </a:rPr>
              <a:t>Link</a:t>
            </a:r>
            <a:r>
              <a:rPr lang="en-US" sz="1200">
                <a:latin typeface="Outfit"/>
                <a:ea typeface="+mn-lt"/>
                <a:cs typeface="+mn-lt"/>
              </a:rPr>
              <a:t>. </a:t>
            </a:r>
            <a:br>
              <a:rPr lang="en-US" sz="1200">
                <a:latin typeface="Outfit"/>
                <a:ea typeface="+mn-lt"/>
                <a:cs typeface="+mn-lt"/>
              </a:rPr>
            </a:b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  <a:ea typeface="+mn-lt"/>
                <a:cs typeface="+mn-lt"/>
              </a:rPr>
              <a:t>Accessed (ongoing) 2024-05-01.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utfit"/>
              <a:ea typeface="+mn-lt"/>
              <a:cs typeface="+mn-lt"/>
            </a:endParaRPr>
          </a:p>
          <a:p>
            <a:endParaRPr lang="en-US" sz="1200">
              <a:latin typeface="Outfit"/>
            </a:endParaRPr>
          </a:p>
          <a:p>
            <a:br>
              <a:rPr lang="en-US"/>
            </a:br>
            <a:endParaRPr lang="en-US" sz="1200">
              <a:latin typeface="Outfi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68843-56C4-F2E7-2AA2-3E12714FB3A8}"/>
              </a:ext>
            </a:extLst>
          </p:cNvPr>
          <p:cNvSpPr txBox="1"/>
          <p:nvPr/>
        </p:nvSpPr>
        <p:spPr>
          <a:xfrm>
            <a:off x="459644" y="5402253"/>
            <a:ext cx="167141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rgbClr val="595959"/>
                </a:solidFill>
                <a:latin typeface="Outfit"/>
              </a:rPr>
              <a:t>Contrails </a:t>
            </a:r>
            <a:r>
              <a:rPr lang="en-US" sz="1700">
                <a:latin typeface="Outfit"/>
              </a:rPr>
              <a:t>-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E7F44-9332-52E6-0450-B505666ABC01}"/>
              </a:ext>
            </a:extLst>
          </p:cNvPr>
          <p:cNvSpPr txBox="1"/>
          <p:nvPr/>
        </p:nvSpPr>
        <p:spPr>
          <a:xfrm>
            <a:off x="444224" y="6142748"/>
            <a:ext cx="1694543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700">
                <a:solidFill>
                  <a:srgbClr val="595959"/>
                </a:solidFill>
                <a:latin typeface="Outfit"/>
              </a:rPr>
              <a:t>Meteorology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6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2013-07-15T20:26:40Z</dcterms:created>
  <dcterms:modified xsi:type="dcterms:W3CDTF">2024-06-05T15:05:43Z</dcterms:modified>
</cp:coreProperties>
</file>